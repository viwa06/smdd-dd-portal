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164592" cy="566928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877824"/>
            <a:ext cx="475488" cy="164592"/>
          </a:xfrm>
          <a:prstGeom prst="rect">
            <a:avLst/>
          </a:prstGeom>
          <a:solidFill>
            <a:srgbClr val="D5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8321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</a:rPr>
              <a:t>DESIGNER DAY  · 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83210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Tersolisib  /  STX-478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249424"/>
            <a:ext cx="8321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Oncology  ·  Small Molecule  ·  Designer Day DD#1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60320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20-Feb-2026  ·  SMDD Digital Chemistry  ·  Eli Lilly and 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71216"/>
            <a:ext cx="8321040" cy="20320"/>
          </a:xfrm>
          <a:prstGeom prst="rect">
            <a:avLst/>
          </a:prstGeom>
          <a:solidFill>
            <a:srgbClr val="2D4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ASSET INFORMATION</a:t>
            </a:r>
            <a:r>
              <a:rPr sz="1100">
                <a:solidFill>
                  <a:srgbClr val="CBD5E1"/>
                </a:solidFill>
              </a:rPr>
              <a:t>  · 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320040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COMPOUND / ASSET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Tersolisib  /  STX-478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749808"/>
            <a:ext cx="237744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81381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LSN / LY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04241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LY4064809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749808"/>
            <a:ext cx="2679192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813816"/>
            <a:ext cx="24963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DESIGNER DAY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042416"/>
            <a:ext cx="24963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20-Feb-2026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81328"/>
            <a:ext cx="228600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545336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THERAPEUTIC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773936"/>
            <a:ext cx="2103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Oncology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1481328"/>
            <a:ext cx="182880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545336"/>
            <a:ext cx="1645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MODALITY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1773936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Small Molecule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481328"/>
            <a:ext cx="201168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4533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CURRENT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77393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Pre-RSM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481328"/>
            <a:ext cx="201168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45336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DESIGNER DAY #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177393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DD#1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12848"/>
            <a:ext cx="8595360" cy="2633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27685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B2A4A"/>
                </a:solidFill>
              </a:rPr>
              <a:t>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505456"/>
            <a:ext cx="8412480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Tersolisib (STX-478 / LY4064809) — PI3Kα-selective inhibitor. Current route: 9-step LLS via Fries rearrangement acylation + ring closing (AcOH/DMF, 120°C, 60%). GLP-tox in progress; GMP1 Oct 2026. Peak demand: 10 MT/year.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CURRENT ROUTE</a:t>
            </a:r>
            <a:r>
              <a:rPr sz="1100">
                <a:solidFill>
                  <a:srgbClr val="CBD5E1"/>
                </a:solidFill>
              </a:rPr>
              <a:t>  · 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3986784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CURRENT ROUTE SCHEME</a:t>
            </a:r>
          </a:p>
        </p:txBody>
      </p:sp>
      <p:pic>
        <p:nvPicPr>
          <p:cNvPr id="7" name="Picture 6" descr="Tersolisib_DD1_v4_route_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11" y="1042416"/>
            <a:ext cx="5935378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7B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DEVELOPMENT HISTORY</a:t>
            </a:r>
            <a:r>
              <a:rPr sz="1100">
                <a:solidFill>
                  <a:srgbClr val="CBD5E1"/>
                </a:solidFill>
              </a:rPr>
              <a:t>  · 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2011680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F7B6C"/>
                </a:solidFill>
              </a:rPr>
              <a:t>APPROACH 1  (Slide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DEVELOPMENT HISTORY  ·  Slide 4  ·  Source: Slides 4 &amp; 5</a:t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>Acylation — Dev History  (Slide 4)</a:t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>Ring Closing — Dev History  (Slide 5)</a:t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>TfOH, MsOH, Zn and Ti salts, BBr3, FeCl3, TFA. Friedel-Crafts works but no advantage (two-step yield &gt; one-step; Cl analog still forms). ~88% conversion with neat TfOH not reproducible.</a:t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>DMF required for solubility (~4 wt% in AcOH) but decomposes at high temp. Residual alkyl bromide promotes side reactions. TFA or AcOH in EtOAc/toluene → poor conversion.</a:t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1E293B"/>
                </a:solidFill>
              </a:rPr>
              <a:t>Old Wuxi Routes  (Slide 11)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8595360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898648"/>
            <a:ext cx="8412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</a:t>
            </a:r>
          </a:p>
        </p:txBody>
      </p:sp>
      <p:pic>
        <p:nvPicPr>
          <p:cNvPr id="10" name="Picture 9" descr="Tersolisib_DD1_v4_devhist_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854" y="3127248"/>
            <a:ext cx="1612291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C65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CURRENT CHALLENGES</a:t>
            </a:r>
            <a:r>
              <a:rPr sz="1100">
                <a:solidFill>
                  <a:srgbClr val="CBD5E1"/>
                </a:solidFill>
              </a:rPr>
              <a:t>  · 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1645920"/>
          </a:xfrm>
          <a:prstGeom prst="rect">
            <a:avLst/>
          </a:prstGeom>
          <a:solidFill>
            <a:srgbClr val="FFFBEB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C65D07"/>
                </a:solidFill>
              </a:rPr>
              <a:t>OPERATIONAL / PROCESS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High temperatures</a:t>
            </a:r>
          </a:p>
          <a:p>
            <a:pPr algn="l"/>
            <a:r>
              <a:rPr sz="1200" b="0" i="0">
                <a:solidFill>
                  <a:srgbClr val="1E293B"/>
                </a:solidFill>
              </a:rPr>
              <a:t>Low yields for 2 steps</a:t>
            </a:r>
          </a:p>
          <a:p>
            <a:pPr algn="l"/>
            <a:r>
              <a:rPr sz="1200" b="0" i="0">
                <a:solidFill>
                  <a:srgbClr val="1E293B"/>
                </a:solidFill>
              </a:rPr>
              <a:t>Slow reactions</a:t>
            </a:r>
          </a:p>
          <a:p>
            <a:pPr algn="l"/>
            <a:r>
              <a:rPr sz="1200" b="0" i="0">
                <a:solidFill>
                  <a:srgbClr val="1E293B"/>
                </a:solidFill>
              </a:rPr>
              <a:t>Undesirable solvents / reagents — DMF at high temperature with acid/base</a:t>
            </a:r>
          </a:p>
          <a:p>
            <a:pPr algn="l"/>
            <a:r>
              <a:rPr sz="1200" b="0" i="0">
                <a:solidFill>
                  <a:srgbClr val="1E293B"/>
                </a:solidFill>
              </a:rPr>
              <a:t>Fries rearrangement gives Cl substitution impurity — cannot be purged in any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42032"/>
            <a:ext cx="8595360" cy="1097280"/>
          </a:xfrm>
          <a:prstGeom prst="rect">
            <a:avLst/>
          </a:prstGeom>
          <a:solidFill>
            <a:srgbClr val="F0FDF4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1D7324"/>
                </a:solidFill>
              </a:rPr>
              <a:t>DEVELOPMENT PRIORITIES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34640"/>
            <a:ext cx="8412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Solvents/reagents with better safety profile</a:t>
            </a:r>
          </a:p>
          <a:p>
            <a:pPr algn="l"/>
            <a:r>
              <a:rPr sz="1200" b="0" i="0">
                <a:solidFill>
                  <a:srgbClr val="1E293B"/>
                </a:solidFill>
              </a:rPr>
              <a:t>Improved cycle time</a:t>
            </a:r>
          </a:p>
          <a:p>
            <a:pPr algn="l"/>
            <a:r>
              <a:rPr sz="1200" b="0" i="0">
                <a:solidFill>
                  <a:srgbClr val="1E293B"/>
                </a:solidFill>
              </a:rPr>
              <a:t>Avoid Cl substitution impurity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6  ·  Source: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Project team route idea: Aromatic bromination (DIY or buy it) then Metal/X exchange + acetylation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9946" y="1481328"/>
            <a:ext cx="5884108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1386" y="1545336"/>
            <a:ext cx="57012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6)</a:t>
            </a:r>
          </a:p>
        </p:txBody>
      </p:sp>
      <p:pic>
        <p:nvPicPr>
          <p:cNvPr id="10" name="Picture 9" descr="Tersolisib_DD1_v4_prop_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386" y="1773936"/>
            <a:ext cx="5701228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Uses current SMs or commercial derivative. Probably can avoid true cryogenic conditions via Grignard (i-PrMgCl). High likelihood of technical success.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Retains SN2 step with toxic electrophile and electron-deficient phenol — anticipate slow. Generates halogenated organic waste. Retains final step of current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Finding appropriate conditions to maximize yield of acetylation step. Reaction of Grignard with Ac2O at −10°C is a starting point.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Alex Harmata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03-Feb-2026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7  ·  Source: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Project team route idea: SNAr onto trifluorinated acetophenone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6746" y="1481328"/>
            <a:ext cx="4370508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186" y="1545336"/>
            <a:ext cx="41876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7)</a:t>
            </a:r>
          </a:p>
        </p:txBody>
      </p:sp>
      <p:pic>
        <p:nvPicPr>
          <p:cNvPr id="10" name="Picture 9" descr="Tersolisib_DD1_v4_prop_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186" y="1773936"/>
            <a:ext cx="4187628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Avoids toxic alkyl bromide and DMF. 3 steps from cheap materials to aldehyde. Good precedent for both steps. Milder temp conditions. UPDATE: preliminary experimental support.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Fluoride generated in step 2. Retains final step of current sequence. Friedel-Crafts challenging on electron-poor arene. Acetophenone expensive; isomer concerns.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SNAr step — appropriate choice of base/conditions to avoid side reactivity from acetophenone enolate.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Alex Harmata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preliminary experimental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8  ·  Source: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Priority — eliminates the Fries rearrangement  (STX-478 SM)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9445" y="1481328"/>
            <a:ext cx="3105109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0885" y="1545336"/>
            <a:ext cx="29222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8)</a:t>
            </a:r>
          </a:p>
        </p:txBody>
      </p:sp>
      <p:pic>
        <p:nvPicPr>
          <p:cNvPr id="10" name="Picture 9" descr="Tersolisib_DD1_v4_prop_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885" y="1773936"/>
            <a:ext cx="2922229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Eliminates the Fries rearrangement. Solid Literature.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JRR (John Rizzo)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02/03/26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9  ·  Source: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One pot difluoro-anisole Friedel-Crafts followed by demethylation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313" y="1481328"/>
            <a:ext cx="5079374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3753" y="1545336"/>
            <a:ext cx="48964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9)</a:t>
            </a:r>
          </a:p>
        </p:txBody>
      </p:sp>
      <p:pic>
        <p:nvPicPr>
          <p:cNvPr id="10" name="Picture 9" descr="Tersolisib_DD1_v4_prop_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53" y="1773936"/>
            <a:ext cx="4896494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Mild conditions; run in solvent. Generally clean and high-yielding. Starting anisole sold by multiple vendors; not expensive. Simple process with firsthand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Chlorinated solvent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—  (see following slides for example of this reaction)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Nick Magnus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03-Feb-2026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10  ·  Source: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Ellman Sulfoximine Reduction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81328"/>
            <a:ext cx="2743200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45336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10)</a:t>
            </a:r>
          </a:p>
        </p:txBody>
      </p:sp>
      <p:pic>
        <p:nvPicPr>
          <p:cNvPr id="10" name="Picture 9" descr="Tersolisib_DD1_v4_prop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172" y="1773936"/>
            <a:ext cx="2409656" cy="12618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Trifluoromethylketone synthesis is well precedented. Hydridic reduction of the Ellman sulfoximine would arrive at a common intermediate in the current route.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Formation of the Ellman sulfoximine and diastereoselective reduction.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Nick Magnus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03-Feb-2026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11  ·  Source: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Trifluoromethylketone Transamination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81328"/>
            <a:ext cx="2743200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45336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11)</a:t>
            </a:r>
          </a:p>
        </p:txBody>
      </p:sp>
      <p:pic>
        <p:nvPicPr>
          <p:cNvPr id="10" name="Picture 9" descr="Tersolisib_DD1_v4_prop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030" y="1773936"/>
            <a:ext cx="2371939" cy="12618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Trifluoromethylketone synthesis is well precedented. Enantioselective transamination gives direct access to the chiral amine.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Transamination.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Nick Magnus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03-Feb-2026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12  ·  Source: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Trifluoromethylketone KRED Vilsmeier-Gabriel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3974" y="1481328"/>
            <a:ext cx="3296051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5414" y="1545336"/>
            <a:ext cx="31131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12)</a:t>
            </a:r>
          </a:p>
        </p:txBody>
      </p:sp>
      <p:pic>
        <p:nvPicPr>
          <p:cNvPr id="10" name="Picture 9" descr="Tersolisib_DD1_v4_prop_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414" y="1773936"/>
            <a:ext cx="3113171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Trifluoromethylketone synthesis is well precedented. KRED, Vilsmeier to chiral chloride — precedented and scalable.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More steps.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KRED reduction, chloride formation, and Gabriel reaction.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Nick Magnus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03-Feb-2026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13  ·  Source: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Aldehyde via a haloform type elimination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4258" y="1481328"/>
            <a:ext cx="6595484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5698" y="1545336"/>
            <a:ext cx="64126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13)</a:t>
            </a:r>
          </a:p>
        </p:txBody>
      </p:sp>
      <p:pic>
        <p:nvPicPr>
          <p:cNvPr id="10" name="Picture 9" descr="Tersolisib_DD1_v4_prop_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698" y="1773936"/>
            <a:ext cx="6412604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Trifluoromethylketone synthesis is well precedented. Aldehyde generated 'on demand' in situ with a base treatment.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Haloform reaction. Based on unpublished work by Nick Magnus: DABCO and heat gave elimination of fluoroform.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Nick Magnus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20-Feb-2026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14  ·  Source: 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Phase-Transfer-Catalyzed Intramolecular Cyclization of ortho-Alkynyl Phenyl Ether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9450" y="1481328"/>
            <a:ext cx="6665099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0890" y="1545336"/>
            <a:ext cx="648221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14)</a:t>
            </a:r>
          </a:p>
        </p:txBody>
      </p:sp>
      <p:pic>
        <p:nvPicPr>
          <p:cNvPr id="10" name="Picture 9" descr="Tersolisib_DD1_v4_prop_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90" y="1773936"/>
            <a:ext cx="6482219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4-step direct access to CF3 ketone variant.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2. Omitting the Fries rearrangement &amp; acid-cat cyclization.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3. PTC-1 readily available or can be made in-house.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Whether the cyclization will be favored under EWG present in the 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Samrat Sahu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02/04/26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15  ·  Source: 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Accessing Benzofurans via Pd cat. Intramolecular Cyclization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48889" y="1481328"/>
            <a:ext cx="3846221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0329" y="1545336"/>
            <a:ext cx="366334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15)</a:t>
            </a:r>
          </a:p>
        </p:txBody>
      </p:sp>
      <p:pic>
        <p:nvPicPr>
          <p:cNvPr id="10" name="Picture 9" descr="Tersolisib_DD1_v4_prop_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329" y="1773936"/>
            <a:ext cx="3663341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No Fries / acid-cat cyclization.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2. 2-step access to −CF3 derivative directly.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3. Both SMs inexpensive &amp; available in bulk.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Pd impurity purging required at last step.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2. Safety profile of CaC2 at high temperature.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Will the cyclization work for direct aldehyde?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2. Scalability of the cyclization step.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Samrat Sahu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02/05/26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16  ·  Source: 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Synthesis of Benzofurans via Base mediated cyclization using Dichloroethylene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3442" y="1481328"/>
            <a:ext cx="5237115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4882" y="1545336"/>
            <a:ext cx="505423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16)</a:t>
            </a:r>
          </a:p>
        </p:txBody>
      </p:sp>
      <p:pic>
        <p:nvPicPr>
          <p:cNvPr id="10" name="Picture 9" descr="Tersolisib_DD1_v4_prop_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882" y="1773936"/>
            <a:ext cx="5054235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Replacing Fries with Stille Coupling.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2. 3-step LLS.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3. Already tested the last step with WuXi.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Scalability of Stille coupling.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Stille coupling of electron-deficient ring system might be challenging. Use –I instead of –Br for facile oxidative addition.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Samrat Sahu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02/04/26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17  ·  Source: 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Accessing Benzofurans via Cu cat. Alkynylation &amp; Alkyl-Suzuki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8595360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45336"/>
            <a:ext cx="8412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17)</a:t>
            </a:r>
          </a:p>
        </p:txBody>
      </p:sp>
      <p:pic>
        <p:nvPicPr>
          <p:cNvPr id="10" name="Picture 9" descr="Tersolisib_DD1_v4_prop_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7957"/>
            <a:ext cx="8412480" cy="12338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Cu cat alkynylation/Pd cat cyclization to access benzofuran — removes Fries / acid-cat cyclization.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Alkyl Suzuki-Coupling to install −Me group.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2. 5-step LLS.</a:t>
            </a:r>
          </a:p>
          <a:p>
            <a:pPr algn="l"/>
            <a:r>
              <a:rPr sz="900" b="0" i="0">
                <a:solidFill>
                  <a:srgbClr val="1E293B"/>
                </a:solidFill>
              </a:rPr>
              <a:t>3. Mostly linear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1. Feasibility of the Alkyl Suzuki.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Samrat Sahu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02/05/26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18  ·  Source: 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Alternate Approach to Fries Rearrangement — Sonagashira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7685" y="1481328"/>
            <a:ext cx="3228629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9125" y="1545336"/>
            <a:ext cx="304574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18)</a:t>
            </a:r>
          </a:p>
        </p:txBody>
      </p:sp>
      <p:pic>
        <p:nvPicPr>
          <p:cNvPr id="10" name="Picture 9" descr="Tersolisib_DD1_v4_prop_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125" y="1773936"/>
            <a:ext cx="3045749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Known/executed chemistry.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Discovery scale. Long reaction times. Harsh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Get bromo arene to work. Can reaction times be reduced?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Stan Kolis / Reaxys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06-Feb-2026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19  ·  Source: 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Vilsmaxxing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22573" y="1481328"/>
            <a:ext cx="4098854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4013" y="1545336"/>
            <a:ext cx="391597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19)</a:t>
            </a:r>
          </a:p>
        </p:txBody>
      </p:sp>
      <p:pic>
        <p:nvPicPr>
          <p:cNvPr id="10" name="Picture 9" descr="Tersolisib_DD1_v4_prop_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013" y="1773936"/>
            <a:ext cx="3915974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Don't have to worry about CF3 anion or fluoroform; cheap. Almost the same intermediate so downstream steps similar.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Highly reactive intermediate; may use PFAs. May form trifluoroacetonitrile as a side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Not sure if a sulfinate will be electron-poor enough to give selectivity for the amide carbonyl Vilsmeier formation.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Jon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18-Feb-2026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20  ·  Source: 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Two-step telescoped cyclization (NaOEt/EtOH, in-situ HCl quench)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3095" y="1481328"/>
            <a:ext cx="6677809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4535" y="1545336"/>
            <a:ext cx="649492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20)</a:t>
            </a:r>
          </a:p>
        </p:txBody>
      </p:sp>
      <p:pic>
        <p:nvPicPr>
          <p:cNvPr id="10" name="Picture 9" descr="Tersolisib_DD1_v4_prop_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35" y="1773936"/>
            <a:ext cx="6494929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Better control of each transformation to reach high conversion and easier workup/isolation.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Not sure about the reactivity of cyclization or how long the reaction will take.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Cyclization at reflux to see reaction kinetics. NaOEt/EtOH to avoid DMF. Quench in-situ with HCl to deprotect aldehyde.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Zhengao Feng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19-Feb-2026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21  ·  Source: 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Intramolecular 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81328"/>
            <a:ext cx="2743200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545336"/>
            <a:ext cx="2560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21)</a:t>
            </a:r>
          </a:p>
        </p:txBody>
      </p:sp>
      <p:pic>
        <p:nvPicPr>
          <p:cNvPr id="10" name="Picture 9" descr="Tersolisib_DD1_v4_prop_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673" y="1773936"/>
            <a:ext cx="2292654" cy="12618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Fast to test. The key asymmetric addition is proven on similar substrate. No Fries or Cl-impurity. SM is $720/kg.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Adds a Pd step. Could be more expensive than current route. Asymmetric addition can have reactivity/selectivity issues.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The asymmetric addition would be less reactive — but this could help selectivity. Computationally assessable.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Alonso Arguelles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19-Feb-2026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22  ·  Source: Slide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Benzofuran from hydroxy-acetophenone ring closure around carbenoid equivalent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81328"/>
            <a:ext cx="8595360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45336"/>
            <a:ext cx="8412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22)</a:t>
            </a:r>
          </a:p>
        </p:txBody>
      </p:sp>
      <p:pic>
        <p:nvPicPr>
          <p:cNvPr id="10" name="Picture 9" descr="Tersolisib_DD1_v4_prop_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773936"/>
            <a:ext cx="7150608" cy="12618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Two steps to benzofuran from commercial material.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Adds Pd step. Vinyl ether Heck with ortho-bromophenols is not well established.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—  (Ref: Chem. Eur. J. 2015, 21, 4, 1482–1487)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Tom Pickel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20-Feb-2026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 lIns="0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PROPOSED ROUTE</a:t>
            </a:r>
            <a:r>
              <a:rPr sz="1100">
                <a:solidFill>
                  <a:srgbClr val="CBD5E1"/>
                </a:solidFill>
              </a:rPr>
              <a:t>  ·  Slide 23  ·  Source: Slide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49808"/>
            <a:ext cx="8595360" cy="603504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13816"/>
            <a:ext cx="8412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D28D9"/>
                </a:solidFill>
              </a:rPr>
              <a:t>PROPOSED ROUTE NAME /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42416"/>
            <a:ext cx="8412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Pyruvate-derived Ullman cyclization/SNAR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0318" y="1481328"/>
            <a:ext cx="3723364" cy="1627632"/>
          </a:xfrm>
          <a:prstGeom prst="rect">
            <a:avLst/>
          </a:prstGeom>
          <a:solidFill>
            <a:srgbClr val="FFFFFF"/>
          </a:solidFill>
          <a:ln w="11430">
            <a:solidFill>
              <a:srgbClr val="E2E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1758" y="1545336"/>
            <a:ext cx="35404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64748B"/>
                </a:solidFill>
              </a:rPr>
              <a:t>SCHEME  (Source: Slide 23)</a:t>
            </a:r>
          </a:p>
        </p:txBody>
      </p:sp>
      <p:pic>
        <p:nvPicPr>
          <p:cNvPr id="10" name="Picture 9" descr="Tersolisib_DD1_v4_prop_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58" y="1773936"/>
            <a:ext cx="3540484" cy="126187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728" y="3182112"/>
            <a:ext cx="5486400" cy="758952"/>
          </a:xfrm>
          <a:prstGeom prst="rect">
            <a:avLst/>
          </a:prstGeom>
          <a:solidFill>
            <a:srgbClr val="F0FDF4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96128" y="3182112"/>
            <a:ext cx="3429000" cy="758952"/>
          </a:xfrm>
          <a:prstGeom prst="rect">
            <a:avLst/>
          </a:prstGeom>
          <a:solidFill>
            <a:srgbClr val="FFFBEB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3236976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D7324"/>
                </a:solidFill>
              </a:rPr>
              <a:t>Pros: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342900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Precedented cyclization; concise.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3236976"/>
            <a:ext cx="3246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65D07"/>
                </a:solidFill>
              </a:rPr>
              <a:t>Cons: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3429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Palladium/Cu use. Should be RSM — correct?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" y="3941064"/>
            <a:ext cx="5486400" cy="758952"/>
          </a:xfrm>
          <a:prstGeom prst="rect">
            <a:avLst/>
          </a:prstGeom>
          <a:solidFill>
            <a:srgbClr val="F3F0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96128" y="3941064"/>
            <a:ext cx="3429000" cy="758952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" y="3995928"/>
            <a:ext cx="53400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D28D9"/>
                </a:solidFill>
              </a:rPr>
              <a:t>"Killer"/Key Experiments: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4187952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Heck reaction may be difficult, but very similar examples exist.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06908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Proposed By:  Joey Tuccinardi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87568" y="436168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Date:  20-Feb-2026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0"/>
            <a:ext cx="863193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b="1" sz="1400">
                <a:solidFill>
                  <a:srgbClr val="FFFFFF"/>
                </a:solidFill>
              </a:rPr>
              <a:t>SUPPORTING SLIDES  ·  Preserved from source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</a:rPr>
              <a:t>Company Confidential  ©2026 Eli Lilly and Company       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94944"/>
            <a:ext cx="8412480" cy="12801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64748B"/>
                </a:solidFill>
              </a:rPr>
              <a:t>Background material from the original submission (Tersolisib_DD1_v4.pptx) is preserved in the source PPT but not parsed by the portal. Open the source file to view DFT analyses, literature references, and supporting experimental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